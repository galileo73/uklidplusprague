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UKLID PLUS PRAHA — Growth Case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Cleaning company forecast for Prague: September 2026 to 2030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8006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32F"/>
                </a:solidFill>
              </a:rPr>
              <a:t>A scalable local cleaning service can reach strong revenue if it focuses on recurring clients, reliable cleaners, and fast WhatsApp conversion.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675888"/>
            <a:ext cx="1874520" cy="14630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2027 target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1.6–2.5M CZK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20–30 recurring clients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9748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3675888"/>
            <a:ext cx="1874520" cy="146304"/>
          </a:xfrm>
          <a:prstGeom prst="rect">
            <a:avLst/>
          </a:prstGeom>
          <a:solidFill>
            <a:srgbClr val="A3B1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2028 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6207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3.5–5.5M CZK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6207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40–60 recurring clients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675888"/>
            <a:ext cx="1874520" cy="146304"/>
          </a:xfrm>
          <a:prstGeom prst="rect">
            <a:avLst/>
          </a:prstGeom>
          <a:solidFill>
            <a:srgbClr val="426B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615C"/>
                </a:solidFill>
              </a:rPr>
              <a:t>2030 potential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6519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F"/>
                </a:solidFill>
              </a:rPr>
              <a:t>10–14M CZK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6519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100–130 recurring clients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69480" y="1234440"/>
            <a:ext cx="4343400" cy="4297680"/>
          </a:xfrm>
          <a:prstGeom prst="roundRect">
            <a:avLst>
              <a:gd name="adj" fmla="val 297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2F"/>
                </a:solidFill>
              </a:rPr>
              <a:t>Business logic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43800" y="1993392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057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028432" y="1965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Build demand through website, Google, Facebook groups and Instagram.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2706624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7706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28432" y="26791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Convert fast by WhatsApp: quote, booking, confirmation.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3419856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34838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28432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Push recurring weekly / bi-weekly cleaning plans.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43800" y="4133088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41970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028432" y="41056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332F"/>
                </a:solidFill>
              </a:rPr>
              <a:t>Use deep cleaning, Airbnb and offices as margin boosters.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43800" y="4818888"/>
            <a:ext cx="3566160" cy="475488"/>
          </a:xfrm>
          <a:prstGeom prst="roundRect">
            <a:avLst>
              <a:gd name="adj" fmla="val 26923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496519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4B3E"/>
                </a:solidFill>
              </a:rPr>
              <a:t>Main bottleneck: cleaner recruitment and quality control.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  <p:pic>
        <p:nvPicPr>
          <p:cNvPr id="37" name="Picture 3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5943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Use the website as the hub, then move every lead to WhatsApp quickly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2450592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804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55480" y="3154680"/>
            <a:ext cx="114300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Traffic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Google 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Instagram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Facebook groups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Referrals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Website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Multilingual pages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Pricing clarity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Trust proof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Book Now CTA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WhatsApp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1383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Fast quote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Photos + address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Date/time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Cleaner match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9127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Standard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Deep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Airbnb turnover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Small offices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0412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042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32F"/>
                </a:solidFill>
              </a:rPr>
              <a:t>Retention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6871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Recurring plan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Review 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Quality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Upsell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F7A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target: under 10 minutes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633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Offer target: recurring plan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426B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51023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Trust target: review after every good job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30" name="Picture 29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5943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Plan &amp; Revenue Potential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15C"/>
                </a:solidFill>
              </a:rPr>
              <a:t>Realistic growth scenario, gross revenue in million CZK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5212080" cy="0"/>
          </a:xfrm>
          <a:prstGeom prst="line">
            <a:avLst/>
          </a:prstGeom>
          <a:noFill/>
          <a:ln w="12700">
            <a:solidFill>
              <a:srgbClr val="BFC8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629411"/>
            <a:ext cx="925373" cy="7974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2026*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" y="440995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0.33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57477" y="4213751"/>
            <a:ext cx="925373" cy="49540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747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57477" y="399429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2.05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29154" y="3621677"/>
            <a:ext cx="925373" cy="1087483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9154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829154" y="3402221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4.5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00830" y="2836273"/>
            <a:ext cx="925373" cy="1872887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083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2029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900830" y="2616817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7.75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72507" y="1809206"/>
            <a:ext cx="925373" cy="289995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250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615C"/>
                </a:solidFill>
              </a:rPr>
              <a:t>2030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72507" y="1589750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332F"/>
                </a:solidFill>
              </a:rPr>
              <a:t>12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49808" y="50292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15C"/>
                </a:solidFill>
              </a:rPr>
              <a:t>*September–December only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2F"/>
                </a:solidFill>
              </a:rPr>
              <a:t>Operating model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Pricing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001000" y="2029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Standard: 350–500 CZK/hour. Deep cleaning: higher fixed packages.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720840" y="2660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Margin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001000" y="2633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Target gross margin: 25–40%, depending on cleaner cost and travel time.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720840" y="3264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Capacity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001000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Growth depends on stable cleaners, backup workers and clear SOPs.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720840" y="38679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Sales focus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001000" y="38404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Recurring homes + Airbnb + small offices. Avoid one-off low-margin jobs.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720840" y="4471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7A5B"/>
                </a:solidFill>
              </a:rPr>
              <a:t>Control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001000" y="44439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615C"/>
                </a:solidFill>
              </a:rPr>
              <a:t>WhatsApp intake, calendar planning, cleaner scorecard, review tracking.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720840" y="5175504"/>
            <a:ext cx="4389120" cy="384048"/>
          </a:xfrm>
          <a:prstGeom prst="roundRect">
            <a:avLst>
              <a:gd name="adj" fmla="val 33333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531266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32F"/>
                </a:solidFill>
              </a:rPr>
              <a:t>2030 realistic potential: 10–14M CZK/year gross revenue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pic>
        <p:nvPicPr>
          <p:cNvPr id="36" name="Picture 35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5943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UKLID PLUS PRAHA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UKLID PLUS PRAHA Business Plan &amp; Growth Strategy</dc:title>
  <dc:subject>UKLID PLUS PRAHA business plan</dc:subject>
  <dc:creator>OpenAI</dc:creator>
  <cp:lastModifiedBy>OpenAI</cp:lastModifiedBy>
  <cp:revision>1</cp:revision>
  <dcterms:created xsi:type="dcterms:W3CDTF">2026-06-09T09:09:31Z</dcterms:created>
  <dcterms:modified xsi:type="dcterms:W3CDTF">2026-06-09T09:09:31Z</dcterms:modified>
</cp:coreProperties>
</file>