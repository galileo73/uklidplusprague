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0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UKLID PLUS PRAHA — Growth Case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Cleaning company forecast for Prague: September 2026 to 2030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48006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A scalable local cleaning service can reach strong revenue if it focuses on recurring clients, reliable cleaners, and fast WhatsApp conversion.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7" name="Shape 5"/>
          <p:cNvSpPr/>
          <p:nvPr/>
        </p:nvSpPr>
        <p:spPr>
          <a:xfrm>
            <a:off x="594360" y="3675888"/>
            <a:ext cx="1874520" cy="14630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8" name="Text 6"/>
          <p:cNvSpPr/>
          <p:nvPr/>
        </p:nvSpPr>
        <p:spPr>
          <a:xfrm>
            <a:off x="75895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615C"/>
                </a:solidFill>
              </a:rPr>
              <a:t>2027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1.6–2.5M CZK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20–30 recurring clients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2" name="Shape 10"/>
          <p:cNvSpPr/>
          <p:nvPr/>
        </p:nvSpPr>
        <p:spPr>
          <a:xfrm>
            <a:off x="2697480" y="3675888"/>
            <a:ext cx="1874520" cy="146304"/>
          </a:xfrm>
          <a:prstGeom prst="rect">
            <a:avLst/>
          </a:prstGeom>
          <a:solidFill>
            <a:srgbClr val="A3B1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3" name="Text 11"/>
          <p:cNvSpPr/>
          <p:nvPr/>
        </p:nvSpPr>
        <p:spPr>
          <a:xfrm>
            <a:off x="286207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615C"/>
                </a:solidFill>
              </a:rPr>
              <a:t>2028 target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6207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3.5–5.5M CZK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6207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40–60 recurring clients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43200"/>
            <a:ext cx="1874520" cy="1078992"/>
          </a:xfrm>
          <a:prstGeom prst="roundRect">
            <a:avLst>
              <a:gd name="adj" fmla="val 11864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7" name="Shape 15"/>
          <p:cNvSpPr/>
          <p:nvPr/>
        </p:nvSpPr>
        <p:spPr>
          <a:xfrm>
            <a:off x="4800600" y="3675888"/>
            <a:ext cx="1874520" cy="146304"/>
          </a:xfrm>
          <a:prstGeom prst="rect">
            <a:avLst/>
          </a:prstGeom>
          <a:solidFill>
            <a:srgbClr val="426B7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8" name="Text 16"/>
          <p:cNvSpPr/>
          <p:nvPr/>
        </p:nvSpPr>
        <p:spPr>
          <a:xfrm>
            <a:off x="4965192" y="2889504"/>
            <a:ext cx="1545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615C"/>
                </a:solidFill>
              </a:rPr>
              <a:t>2030 potential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3127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10–14M CZK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5192" y="349300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100–130 recurring clients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69480" y="1234440"/>
            <a:ext cx="4343400" cy="4297680"/>
          </a:xfrm>
          <a:prstGeom prst="roundRect">
            <a:avLst>
              <a:gd name="adj" fmla="val 297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2" name="Text 20"/>
          <p:cNvSpPr/>
          <p:nvPr/>
        </p:nvSpPr>
        <p:spPr>
          <a:xfrm>
            <a:off x="75438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Business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43800" y="1993392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4" name="Text 22"/>
          <p:cNvSpPr/>
          <p:nvPr/>
        </p:nvSpPr>
        <p:spPr>
          <a:xfrm>
            <a:off x="7543800" y="20574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28432" y="1965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332F"/>
                </a:solidFill>
              </a:rPr>
              <a:t>Build demand through website, Google, Facebook groups and Instagram.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43800" y="2706624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7" name="Text 25"/>
          <p:cNvSpPr/>
          <p:nvPr/>
        </p:nvSpPr>
        <p:spPr>
          <a:xfrm>
            <a:off x="7543800" y="27706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28432" y="26791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332F"/>
                </a:solidFill>
              </a:rPr>
              <a:t>Convert fast by WhatsApp: quote, booking, confirmation.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43800" y="3419856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0" name="Text 28"/>
          <p:cNvSpPr/>
          <p:nvPr/>
        </p:nvSpPr>
        <p:spPr>
          <a:xfrm>
            <a:off x="7543800" y="34838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28432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332F"/>
                </a:solidFill>
              </a:rPr>
              <a:t>Push recurring weekly / bi-weekly cleaning plans.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4133088"/>
            <a:ext cx="310896" cy="310896"/>
          </a:xfrm>
          <a:prstGeom prst="ellipse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3" name="Text 31"/>
          <p:cNvSpPr/>
          <p:nvPr/>
        </p:nvSpPr>
        <p:spPr>
          <a:xfrm>
            <a:off x="7543800" y="419709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28432" y="41056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6332F"/>
                </a:solidFill>
              </a:rPr>
              <a:t>Use deep cleaning, Airbnb and offices as margin boosters.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43800" y="4818888"/>
            <a:ext cx="3566160" cy="475488"/>
          </a:xfrm>
          <a:prstGeom prst="roundRect">
            <a:avLst>
              <a:gd name="adj" fmla="val 26923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6" name="Text 34"/>
          <p:cNvSpPr/>
          <p:nvPr/>
        </p:nvSpPr>
        <p:spPr>
          <a:xfrm>
            <a:off x="7726680" y="496519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4B3E"/>
                </a:solidFill>
              </a:rPr>
              <a:t>Key challenges: cleaner recruitment, retention, and quality control.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7" name="Picture 3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7280" cy="1129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Use the website as the hub, then move every lead to WhatsApp quickly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50592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78040" y="3154680"/>
            <a:ext cx="123444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555480" y="3154680"/>
            <a:ext cx="1143000" cy="0"/>
          </a:xfrm>
          <a:prstGeom prst="line">
            <a:avLst/>
          </a:prstGeom>
          <a:noFill/>
          <a:ln w="25400">
            <a:solidFill>
              <a:srgbClr val="1F7A5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Traffic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Google Business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Instagram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Facebook groups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Referrals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7180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Website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Multilingual pages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Pricing clarity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Trust proof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Book Now 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WhatsApp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383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Fast quote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Photos + address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Date/time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Cleaner match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2668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7298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Service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9127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Standard cleaning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Deep cleaning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Airbnb turnover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Small offices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04120" y="2057400"/>
            <a:ext cx="1874520" cy="2148840"/>
          </a:xfrm>
          <a:prstGeom prst="roundRect">
            <a:avLst>
              <a:gd name="adj" fmla="val 6829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50424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Retention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68712" y="2743200"/>
            <a:ext cx="15361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Recurring plan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Review 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Quality check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Upsell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F7A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target: under 10 minutes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1633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510235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Offer target: recurring plan first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892040"/>
            <a:ext cx="3108960" cy="621792"/>
          </a:xfrm>
          <a:prstGeom prst="roundRect">
            <a:avLst>
              <a:gd name="adj" fmla="val 20588"/>
            </a:avLst>
          </a:prstGeom>
          <a:solidFill>
            <a:srgbClr val="426B7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510235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Trust target: review after every good job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2" name="Picture 36" descr="logo.jpg">
            <a:extLst>
              <a:ext uri="{FF2B5EF4-FFF2-40B4-BE49-F238E27FC236}">
                <a16:creationId xmlns:a16="http://schemas.microsoft.com/office/drawing/2014/main" id="{1CC45271-E804-48C6-8D5D-9F81A3734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7280" cy="11292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3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Plan &amp; Revenue Potential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Realistic growth scenario, gross revenue in million CZK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17D"/>
                </a:solidFill>
              </a:rPr>
              <a:t>UKLID PLUS PRAHA | Business plan &amp; growth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5212080" cy="0"/>
          </a:xfrm>
          <a:prstGeom prst="line">
            <a:avLst/>
          </a:prstGeom>
          <a:noFill/>
          <a:ln w="12700">
            <a:solidFill>
              <a:srgbClr val="BFC8C0"/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6" name="Shape 4"/>
          <p:cNvSpPr/>
          <p:nvPr/>
        </p:nvSpPr>
        <p:spPr>
          <a:xfrm>
            <a:off x="685800" y="4629411"/>
            <a:ext cx="925373" cy="7974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7" name="Text 5"/>
          <p:cNvSpPr/>
          <p:nvPr/>
        </p:nvSpPr>
        <p:spPr>
          <a:xfrm>
            <a:off x="68580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2026*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40995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0.33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57477" y="4213751"/>
            <a:ext cx="925373" cy="495409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0" name="Text 8"/>
          <p:cNvSpPr/>
          <p:nvPr/>
        </p:nvSpPr>
        <p:spPr>
          <a:xfrm>
            <a:off x="175747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2027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57477" y="3994295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2.05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29154" y="3621677"/>
            <a:ext cx="925373" cy="1087483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3" name="Text 11"/>
          <p:cNvSpPr/>
          <p:nvPr/>
        </p:nvSpPr>
        <p:spPr>
          <a:xfrm>
            <a:off x="2829154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2028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29154" y="3402221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4.5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00830" y="2836273"/>
            <a:ext cx="925373" cy="1872887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6" name="Text 14"/>
          <p:cNvSpPr/>
          <p:nvPr/>
        </p:nvSpPr>
        <p:spPr>
          <a:xfrm>
            <a:off x="3900830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2029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00830" y="2616817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7.75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72507" y="1809206"/>
            <a:ext cx="925373" cy="2899954"/>
          </a:xfrm>
          <a:prstGeom prst="rect">
            <a:avLst/>
          </a:prstGeom>
          <a:solidFill>
            <a:srgbClr val="1F7A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19" name="Text 17"/>
          <p:cNvSpPr/>
          <p:nvPr/>
        </p:nvSpPr>
        <p:spPr>
          <a:xfrm>
            <a:off x="4972507" y="4782312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615C"/>
                </a:solidFill>
              </a:rPr>
              <a:t>2030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72507" y="1589750"/>
            <a:ext cx="9253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12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292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*September–December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234440"/>
            <a:ext cx="5074920" cy="4526280"/>
          </a:xfrm>
          <a:prstGeom prst="roundRect">
            <a:avLst>
              <a:gd name="adj" fmla="val 2828"/>
            </a:avLst>
          </a:prstGeom>
          <a:solidFill>
            <a:srgbClr val="FFF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23" name="Text 21"/>
          <p:cNvSpPr/>
          <p:nvPr/>
        </p:nvSpPr>
        <p:spPr>
          <a:xfrm>
            <a:off x="672084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32F"/>
                </a:solidFill>
              </a:rPr>
              <a:t>Operating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B"/>
                </a:solidFill>
              </a:rPr>
              <a:t>Pricing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202996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Standard: 350–500 CZK/hour. Deep cleaning: higher fixed packages.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20840" y="26609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B"/>
                </a:solidFill>
              </a:rPr>
              <a:t>Margin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01000" y="2633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Target gross margin: 25–40%, depending on cleaner cost and travel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3264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B"/>
                </a:solidFill>
              </a:rPr>
              <a:t>Capacity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01000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Assumes 10-15% monthly churn. Growth needs stable cleaners + SOPs.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20840" y="38679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B"/>
                </a:solidFill>
              </a:rPr>
              <a:t>Sales focus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01000" y="38404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Recurring homes + Airbnb + small offices. Avoid one-off low-margin jobs.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20840" y="44714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B"/>
                </a:solidFill>
              </a:rPr>
              <a:t>Control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01000" y="44439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9615C"/>
                </a:solidFill>
              </a:rPr>
              <a:t>WhatsApp intake, calendar planning, cleaner scorecard, review tracking.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20840" y="5175504"/>
            <a:ext cx="4389120" cy="384048"/>
          </a:xfrm>
          <a:prstGeom prst="roundRect">
            <a:avLst>
              <a:gd name="adj" fmla="val 33333"/>
            </a:avLst>
          </a:prstGeom>
          <a:solidFill>
            <a:srgbClr val="E3EF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sz="1200"/>
          </a:p>
        </p:txBody>
      </p:sp>
      <p:sp>
        <p:nvSpPr>
          <p:cNvPr id="35" name="Text 33"/>
          <p:cNvSpPr/>
          <p:nvPr/>
        </p:nvSpPr>
        <p:spPr>
          <a:xfrm>
            <a:off x="6949440" y="531266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32F"/>
                </a:solidFill>
              </a:rPr>
              <a:t>2030 realistic potential: 10–14M CZK/year gross revenue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8" name="Picture 36" descr="logo.jpg">
            <a:extLst>
              <a:ext uri="{FF2B5EF4-FFF2-40B4-BE49-F238E27FC236}">
                <a16:creationId xmlns:a16="http://schemas.microsoft.com/office/drawing/2014/main" id="{9C467FB8-3E2E-478B-B2C1-821841D7B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7280" cy="11292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349</Words>
  <Application>Microsoft Office PowerPoint</Application>
  <PresentationFormat>Widescreen</PresentationFormat>
  <Paragraphs>86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>UKLID PLUS PRAHA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UKLID PLUS PRAHA Business Plan &amp; Growth Strategy</dc:title>
  <dc:subject>UKLID PLUS PRAHA business plan</dc:subject>
  <dc:creator>OpenAI</dc:creator>
  <cp:lastModifiedBy>Rossi Gianluigi</cp:lastModifiedBy>
  <cp:revision>4</cp:revision>
  <dcterms:created xsi:type="dcterms:W3CDTF">2026-06-09T09:09:31Z</dcterms:created>
  <dcterms:modified xsi:type="dcterms:W3CDTF">2026-06-09T10:01:18Z</dcterms:modified>
</cp:coreProperties>
</file>